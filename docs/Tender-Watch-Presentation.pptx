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31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F6FED"/>
                </a:solidFill>
                <a:latin typeface="Calibri"/>
              </a:rPr>
              <a:t>TENDER WATCH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Автоматизований AI-агент для моніторингу</a:t>
            </a:r>
          </a:p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тендерів Prozorro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43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9D6F2"/>
                </a:solidFill>
                <a:latin typeface="Calibri"/>
              </a:rPr>
              <a:t>Пошук → перевірка кваліфікації → передача рішення людині у Slack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F6FED"/>
                </a:solidFill>
                <a:latin typeface="Calibri"/>
              </a:rPr>
              <a:t>ПРОБЛЕМА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Ручний моніторинг тендерів не масштабується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005840" cy="3810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600">
                <a:solidFill>
                  <a:srgbClr val="1B2A4A"/>
                </a:solidFill>
                <a:latin typeface="Calibri"/>
              </a:rPr>
              <a:t>•  Щодня на Prozorro з'являються сотні нових тендерів у різних категоріях.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600">
                <a:solidFill>
                  <a:srgbClr val="1B2A4A"/>
                </a:solidFill>
                <a:latin typeface="Calibri"/>
              </a:rPr>
              <a:t>•  Відповідальний співробітник має вручну переглядати кожен новий тендер, щоб зрозуміти, чи він відповідає профілю компанії.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600">
                <a:solidFill>
                  <a:srgbClr val="1B2A4A"/>
                </a:solidFill>
                <a:latin typeface="Calibri"/>
              </a:rPr>
              <a:t>•  Для релевантних тендерів потрібно ще й перевірити кваліфікаційні вимоги (документи, досвід, фінансову спроможність) — це займає ще більше часу.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600">
                <a:solidFill>
                  <a:srgbClr val="1B2A4A"/>
                </a:solidFill>
                <a:latin typeface="Calibri"/>
              </a:rPr>
              <a:t>•  Наслідки: втрачені можливості (тендер пропущено або розглянуто занадто пізно) або витрачений час на тендери, які компанія все одно не виграє.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645920"/>
            <a:ext cx="5029200" cy="4389120"/>
          </a:xfrm>
          <a:prstGeom prst="roundRect">
            <a:avLst/>
          </a:prstGeom>
          <a:solidFill>
            <a:srgbClr val="F1F3F4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Calibri"/>
              </a:rPr>
              <a:t>Що потрібно вирішити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286000"/>
            <a:ext cx="4480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50">
                <a:solidFill>
                  <a:srgbClr val="1B2A4A"/>
                </a:solidFill>
                <a:latin typeface="Calibri"/>
              </a:rPr>
              <a:t>•  Автоматично знаходити нові тендери без пропусків.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50">
                <a:solidFill>
                  <a:srgbClr val="1B2A4A"/>
                </a:solidFill>
                <a:latin typeface="Calibri"/>
              </a:rPr>
              <a:t>•  Відсіювати нерелевантні тендери без участі людини.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50">
                <a:solidFill>
                  <a:srgbClr val="1B2A4A"/>
                </a:solidFill>
                <a:latin typeface="Calibri"/>
              </a:rPr>
              <a:t>•  Первинно перевіряти відповідність кваліфікаційним вимогам компанії.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50">
                <a:solidFill>
                  <a:srgbClr val="1B2A4A"/>
                </a:solidFill>
                <a:latin typeface="Calibri"/>
              </a:rPr>
              <a:t>•  Сповіщати людину лише про справді варті уваги випадки — з готовим коротким резюме, а не з сирими даними.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50">
                <a:solidFill>
                  <a:srgbClr val="1B2A4A"/>
                </a:solidFill>
                <a:latin typeface="Calibri"/>
              </a:rPr>
              <a:t>•  Дати людині швидко відповісти прямо в Slack: подати заявку чи відмовитися.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F6368"/>
                </a:solidFill>
                <a:latin typeface="Calibri"/>
              </a:rPr>
              <a:t>Tender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F636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F6FED"/>
                </a:solidFill>
                <a:latin typeface="Calibri"/>
              </a:rPr>
              <a:t>АРХІТЕКТУРА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Компоненти системи (спрощена схема)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005840" cy="3810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1920240" cy="868680"/>
          </a:xfrm>
          <a:prstGeom prst="roundRect">
            <a:avLst/>
          </a:prstGeom>
          <a:solidFill>
            <a:srgbClr val="F1F3F4"/>
          </a:solidFill>
          <a:ln w="19050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400" b="1" i="0">
                <a:solidFill>
                  <a:srgbClr val="1B2A4A"/>
                </a:solidFill>
                <a:latin typeface="Calibri"/>
              </a:rPr>
              <a:t>Prozorro</a:t>
            </a:r>
          </a:p>
          <a:p>
            <a:pPr algn="ctr"/>
            <a:r>
              <a:rPr sz="1100">
                <a:solidFill>
                  <a:srgbClr val="5F6368"/>
                </a:solidFill>
                <a:latin typeface="Calibri"/>
              </a:rPr>
              <a:t>публічний API тендерів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017520"/>
            <a:ext cx="1920240" cy="868680"/>
          </a:xfrm>
          <a:prstGeom prst="roundRect">
            <a:avLst/>
          </a:prstGeom>
          <a:solidFill>
            <a:srgbClr val="F1F3F4"/>
          </a:solidFill>
          <a:ln w="19050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400" b="1" i="0">
                <a:solidFill>
                  <a:srgbClr val="1B2A4A"/>
                </a:solidFill>
                <a:latin typeface="Calibri"/>
              </a:rPr>
              <a:t>Claude</a:t>
            </a:r>
          </a:p>
          <a:p>
            <a:pPr algn="ctr"/>
            <a:r>
              <a:rPr sz="1100">
                <a:solidFill>
                  <a:srgbClr val="5F6368"/>
                </a:solidFill>
                <a:latin typeface="Calibri"/>
              </a:rPr>
              <a:t>LLM для аналізу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06240"/>
            <a:ext cx="1920240" cy="868680"/>
          </a:xfrm>
          <a:prstGeom prst="roundRect">
            <a:avLst/>
          </a:prstGeom>
          <a:solidFill>
            <a:srgbClr val="F1F3F4"/>
          </a:solidFill>
          <a:ln w="19050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 i="0">
                <a:solidFill>
                  <a:srgbClr val="1B2A4A"/>
                </a:solidFill>
                <a:latin typeface="Calibri"/>
              </a:rPr>
              <a:t>Документи компанії</a:t>
            </a:r>
          </a:p>
          <a:p>
            <a:pPr algn="ctr"/>
            <a:r>
              <a:rPr sz="1100">
                <a:solidFill>
                  <a:srgbClr val="5F6368"/>
                </a:solidFill>
                <a:latin typeface="Calibri"/>
              </a:rPr>
              <a:t>кваліфікаційні вимоги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828800"/>
            <a:ext cx="22860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600" b="1" i="0">
                <a:solidFill>
                  <a:srgbClr val="1B2A4A"/>
                </a:solidFill>
                <a:latin typeface="Calibri"/>
              </a:rPr>
              <a:t>mcp-server</a:t>
            </a:r>
          </a:p>
          <a:p>
            <a:pPr algn="ctr"/>
            <a:r>
              <a:rPr sz="1100">
                <a:solidFill>
                  <a:srgbClr val="5F6368"/>
                </a:solidFill>
                <a:latin typeface="Calibri"/>
              </a:rPr>
              <a:t>дані тендерів через MCP-tools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23560" y="1645920"/>
            <a:ext cx="3291840" cy="3291840"/>
          </a:xfrm>
          <a:prstGeom prst="roundRect">
            <a:avLst/>
          </a:prstGeom>
          <a:solidFill>
            <a:srgbClr val="EAF1FF"/>
          </a:solidFill>
          <a:ln w="1905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700" b="1" i="0">
                <a:solidFill>
                  <a:srgbClr val="1B2A4A"/>
                </a:solidFill>
                <a:latin typeface="Calibri"/>
              </a:rPr>
              <a:t>loop-orchestrator
(AI-агент)</a:t>
            </a:r>
          </a:p>
          <a:p>
            <a:pPr algn="ctr"/>
            <a:r>
              <a:rPr sz="1200">
                <a:solidFill>
                  <a:srgbClr val="5F6368"/>
                </a:solidFill>
                <a:latin typeface="Calibri"/>
              </a:rPr>
              <a:t>Виявлення → Оцінка (агентна) →
Рішення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5212080"/>
            <a:ext cx="3291840" cy="822960"/>
          </a:xfrm>
          <a:prstGeom prst="roundRect">
            <a:avLst/>
          </a:prstGeom>
          <a:solidFill>
            <a:srgbClr val="F1F3F4"/>
          </a:solidFill>
          <a:ln w="19050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400" b="1" i="0">
                <a:solidFill>
                  <a:srgbClr val="1B2A4A"/>
                </a:solidFill>
                <a:latin typeface="Calibri"/>
              </a:rPr>
              <a:t>Azure Table Storage</a:t>
            </a:r>
          </a:p>
          <a:p>
            <a:pPr algn="ctr"/>
            <a:r>
              <a:rPr sz="1100">
                <a:solidFill>
                  <a:srgbClr val="5F6368"/>
                </a:solidFill>
                <a:latin typeface="Calibri"/>
              </a:rPr>
              <a:t>пам'ять — статуси й рішення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64040" y="2194560"/>
            <a:ext cx="2286000" cy="1005840"/>
          </a:xfrm>
          <a:prstGeom prst="roundRect">
            <a:avLst/>
          </a:prstGeom>
          <a:solidFill>
            <a:srgbClr val="E6F4EA"/>
          </a:solidFill>
          <a:ln w="19050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500" b="1" i="0">
                <a:solidFill>
                  <a:srgbClr val="1B2A4A"/>
                </a:solidFill>
                <a:latin typeface="Calibri"/>
              </a:rPr>
              <a:t>Slack</a:t>
            </a:r>
          </a:p>
          <a:p>
            <a:pPr algn="ctr"/>
            <a:r>
              <a:rPr sz="1100">
                <a:solidFill>
                  <a:srgbClr val="5F6368"/>
                </a:solidFill>
                <a:latin typeface="Calibri"/>
              </a:rPr>
              <a:t>сповіщення + кнопки рішення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64040" y="3657600"/>
            <a:ext cx="2286000" cy="914400"/>
          </a:xfrm>
          <a:prstGeom prst="roundRect">
            <a:avLst/>
          </a:prstGeom>
          <a:solidFill>
            <a:srgbClr val="FDF3E0"/>
          </a:solidFill>
          <a:ln w="19050">
            <a:solidFill>
              <a:srgbClr val="E38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400" b="1" i="0">
                <a:solidFill>
                  <a:srgbClr val="1B2A4A"/>
                </a:solidFill>
                <a:latin typeface="Calibri"/>
              </a:rPr>
              <a:t>Менеджер</a:t>
            </a:r>
          </a:p>
          <a:p>
            <a:pPr algn="ctr"/>
            <a:r>
              <a:rPr sz="1100">
                <a:solidFill>
                  <a:srgbClr val="5F6368"/>
                </a:solidFill>
                <a:latin typeface="Calibri"/>
              </a:rPr>
              <a:t>✅ подати / ❌ відмовитися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77440" y="2263140"/>
            <a:ext cx="502920" cy="68580"/>
          </a:xfrm>
          <a:prstGeom prst="line">
            <a:avLst/>
          </a:prstGeom>
          <a:ln w="2222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5166360" y="2103120"/>
            <a:ext cx="457200" cy="228600"/>
          </a:xfrm>
          <a:prstGeom prst="line">
            <a:avLst/>
          </a:prstGeom>
          <a:ln w="28575">
            <a:solidFill>
              <a:srgbClr val="2F6F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212080" y="203911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1">
                <a:solidFill>
                  <a:srgbClr val="2F6FED"/>
                </a:solidFill>
                <a:latin typeface="Calibri"/>
              </a:rPr>
              <a:t>MCP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2377440" y="3108960"/>
            <a:ext cx="3246120" cy="342900"/>
          </a:xfrm>
          <a:prstGeom prst="line">
            <a:avLst/>
          </a:prstGeom>
          <a:ln w="25400">
            <a:solidFill>
              <a:srgbClr val="2F6F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5166360" y="2560320"/>
            <a:ext cx="457200" cy="1371600"/>
          </a:xfrm>
          <a:prstGeom prst="line">
            <a:avLst/>
          </a:prstGeom>
          <a:ln w="19050">
            <a:solidFill>
              <a:srgbClr val="2F6FED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063240" y="306324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F6FED"/>
                </a:solidFill>
                <a:latin typeface="Calibri"/>
              </a:rPr>
              <a:t>під час Оцінки: Claude сам</a:t>
            </a:r>
          </a:p>
          <a:p>
            <a:pPr algn="l"/>
            <a:r>
              <a:rPr sz="950" b="0" i="1">
                <a:solidFill>
                  <a:srgbClr val="2F6FED"/>
                </a:solidFill>
                <a:latin typeface="Calibri"/>
              </a:rPr>
              <a:t>вирішує викликати get_tender /</a:t>
            </a:r>
          </a:p>
          <a:p>
            <a:pPr algn="l"/>
            <a:r>
              <a:rPr sz="950" b="0" i="1">
                <a:solidFill>
                  <a:srgbClr val="2F6FED"/>
                </a:solidFill>
                <a:latin typeface="Calibri"/>
              </a:rPr>
              <a:t>search_tenders — агент виконує</a:t>
            </a:r>
          </a:p>
          <a:p>
            <a:pPr algn="l"/>
            <a:r>
              <a:rPr sz="950" b="0" i="1">
                <a:solidFill>
                  <a:srgbClr val="2F6FED"/>
                </a:solidFill>
                <a:latin typeface="Calibri"/>
              </a:rPr>
              <a:t>цей запит за нього (не напряму)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2377440" y="4114800"/>
            <a:ext cx="3246120" cy="525780"/>
          </a:xfrm>
          <a:prstGeom prst="line">
            <a:avLst/>
          </a:prstGeom>
          <a:ln w="2540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269480" y="4937760"/>
            <a:ext cx="0" cy="274320"/>
          </a:xfrm>
          <a:prstGeom prst="line">
            <a:avLst/>
          </a:prstGeom>
          <a:ln w="2540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915400" y="2194560"/>
            <a:ext cx="548640" cy="502920"/>
          </a:xfrm>
          <a:prstGeom prst="line">
            <a:avLst/>
          </a:prstGeom>
          <a:ln w="25400">
            <a:solidFill>
              <a:srgbClr val="1E8E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738360" y="3200400"/>
            <a:ext cx="0" cy="457200"/>
          </a:xfrm>
          <a:prstGeom prst="line">
            <a:avLst/>
          </a:prstGeom>
          <a:ln w="25400">
            <a:solidFill>
              <a:srgbClr val="E38B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1292840" y="3200400"/>
            <a:ext cx="0" cy="457200"/>
          </a:xfrm>
          <a:prstGeom prst="line">
            <a:avLst/>
          </a:prstGeom>
          <a:ln w="19050">
            <a:solidFill>
              <a:srgbClr val="E38B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F6368"/>
                </a:solidFill>
                <a:latin typeface="Calibri"/>
              </a:rPr>
              <a:t>Tender Watch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F636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F6FED"/>
                </a:solidFill>
                <a:latin typeface="Calibri"/>
              </a:rPr>
              <a:t>ЯК ЦЕ ПРАЦЮЄ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Основний потік обробки одного тендера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005840" cy="3810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92327" y="2194560"/>
            <a:ext cx="2377440" cy="2514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7800" lIns="101600" rIns="101600"/>
          <a:lstStyle/>
          <a:p>
            <a:pPr algn="ctr"/>
            <a:r>
              <a:rPr sz="1600" b="1">
                <a:solidFill>
                  <a:srgbClr val="1B2A4A"/>
                </a:solidFill>
                <a:latin typeface="Calibri"/>
              </a:rPr>
              <a:t>Виявлення</a:t>
            </a:r>
          </a:p>
          <a:p>
            <a:pPr algn="ctr"/>
            <a:r>
              <a:rPr sz="1100" i="1">
                <a:solidFill>
                  <a:srgbClr val="5F6368"/>
                </a:solidFill>
                <a:latin typeface="Calibri"/>
              </a:rPr>
              <a:t>Discover</a:t>
            </a:r>
          </a:p>
          <a:p>
            <a:pPr algn="ctr">
              <a:spcBef>
                <a:spcPts val="800"/>
              </a:spcBef>
            </a:pPr>
            <a:r>
              <a:rPr sz="1050">
                <a:solidFill>
                  <a:srgbClr val="5F6368"/>
                </a:solidFill>
                <a:latin typeface="Calibri"/>
              </a:rPr>
              <a:t>Знаходить нові тендери
на Prozorro, які ще не
обробляли</a:t>
            </a:r>
          </a:p>
        </p:txBody>
      </p:sp>
      <p:sp>
        <p:nvSpPr>
          <p:cNvPr id="6" name="Oval 5"/>
          <p:cNvSpPr/>
          <p:nvPr/>
        </p:nvSpPr>
        <p:spPr>
          <a:xfrm>
            <a:off x="1752447" y="1938528"/>
            <a:ext cx="457200" cy="457200"/>
          </a:xfrm>
          <a:prstGeom prst="ellipse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35527" y="2194560"/>
            <a:ext cx="2377440" cy="2514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7800" lIns="101600" rIns="101600"/>
          <a:lstStyle/>
          <a:p>
            <a:pPr algn="ctr"/>
            <a:r>
              <a:rPr sz="1600" b="1">
                <a:solidFill>
                  <a:srgbClr val="1B2A4A"/>
                </a:solidFill>
                <a:latin typeface="Calibri"/>
              </a:rPr>
              <a:t>Оцінка (агентна)</a:t>
            </a:r>
          </a:p>
          <a:p>
            <a:pPr algn="ctr"/>
            <a:r>
              <a:rPr sz="1100" i="1">
                <a:solidFill>
                  <a:srgbClr val="2F6FED"/>
                </a:solidFill>
                <a:latin typeface="Calibri"/>
              </a:rPr>
              <a:t>Assess</a:t>
            </a:r>
          </a:p>
          <a:p>
            <a:pPr algn="ctr">
              <a:spcBef>
                <a:spcPts val="800"/>
              </a:spcBef>
            </a:pPr>
            <a:r>
              <a:rPr sz="1050">
                <a:solidFill>
                  <a:srgbClr val="5F6368"/>
                </a:solidFill>
                <a:latin typeface="Calibri"/>
              </a:rPr>
              <a:t>LLM сам вирішує, чи звертатись
по get_tender / search_tenders,
оцінює релевантність і відповідність
вимогам компанії за одну сесію</a:t>
            </a:r>
          </a:p>
        </p:txBody>
      </p:sp>
      <p:sp>
        <p:nvSpPr>
          <p:cNvPr id="8" name="Oval 7"/>
          <p:cNvSpPr/>
          <p:nvPr/>
        </p:nvSpPr>
        <p:spPr>
          <a:xfrm>
            <a:off x="4495647" y="1938528"/>
            <a:ext cx="457200" cy="457200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2194560"/>
            <a:ext cx="2377440" cy="2514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7800" lIns="101600" rIns="101600"/>
          <a:lstStyle/>
          <a:p>
            <a:pPr algn="ctr"/>
            <a:r>
              <a:rPr sz="1600" b="1">
                <a:solidFill>
                  <a:srgbClr val="1B2A4A"/>
                </a:solidFill>
                <a:latin typeface="Calibri"/>
              </a:rPr>
              <a:t>Збереження</a:t>
            </a:r>
          </a:p>
          <a:p>
            <a:pPr algn="ctr"/>
            <a:r>
              <a:rPr sz="1100" i="1">
                <a:solidFill>
                  <a:srgbClr val="5F6368"/>
                </a:solidFill>
                <a:latin typeface="Calibri"/>
              </a:rPr>
              <a:t>Persist</a:t>
            </a:r>
          </a:p>
          <a:p>
            <a:pPr algn="ctr">
              <a:spcBef>
                <a:spcPts val="800"/>
              </a:spcBef>
            </a:pPr>
            <a:r>
              <a:rPr sz="1050">
                <a:solidFill>
                  <a:srgbClr val="5F6368"/>
                </a:solidFill>
                <a:latin typeface="Calibri"/>
              </a:rPr>
              <a:t>Зберігає статус і
результат у пам'яті
(не обробити двічі)</a:t>
            </a:r>
          </a:p>
        </p:txBody>
      </p:sp>
      <p:sp>
        <p:nvSpPr>
          <p:cNvPr id="10" name="Oval 9"/>
          <p:cNvSpPr/>
          <p:nvPr/>
        </p:nvSpPr>
        <p:spPr>
          <a:xfrm>
            <a:off x="7238847" y="1938528"/>
            <a:ext cx="457200" cy="457200"/>
          </a:xfrm>
          <a:prstGeom prst="ellipse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21927" y="2194560"/>
            <a:ext cx="2377440" cy="2514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7800" lIns="101600" rIns="101600"/>
          <a:lstStyle/>
          <a:p>
            <a:pPr algn="ctr"/>
            <a:r>
              <a:rPr sz="1600" b="1">
                <a:solidFill>
                  <a:srgbClr val="1B2A4A"/>
                </a:solidFill>
                <a:latin typeface="Calibri"/>
              </a:rPr>
              <a:t>Передача</a:t>
            </a:r>
          </a:p>
          <a:p>
            <a:pPr algn="ctr"/>
            <a:r>
              <a:rPr sz="1100" i="1">
                <a:solidFill>
                  <a:srgbClr val="1E8E3E"/>
                </a:solidFill>
                <a:latin typeface="Calibri"/>
              </a:rPr>
              <a:t>Handoff</a:t>
            </a:r>
          </a:p>
          <a:p>
            <a:pPr algn="ctr">
              <a:spcBef>
                <a:spcPts val="800"/>
              </a:spcBef>
            </a:pPr>
            <a:r>
              <a:rPr sz="1050">
                <a:solidFill>
                  <a:srgbClr val="5F6368"/>
                </a:solidFill>
                <a:latin typeface="Calibri"/>
              </a:rPr>
              <a:t>Готує коротке резюме
і надсилає в Slack
з кнопками рішення</a:t>
            </a:r>
          </a:p>
        </p:txBody>
      </p:sp>
      <p:sp>
        <p:nvSpPr>
          <p:cNvPr id="12" name="Oval 11"/>
          <p:cNvSpPr/>
          <p:nvPr/>
        </p:nvSpPr>
        <p:spPr>
          <a:xfrm>
            <a:off x="9982047" y="1938528"/>
            <a:ext cx="457200" cy="457200"/>
          </a:xfrm>
          <a:prstGeom prst="ellipse">
            <a:avLst/>
          </a:prstGeom>
          <a:solidFill>
            <a:srgbClr val="1E8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69767" y="3451860"/>
            <a:ext cx="365760" cy="0"/>
          </a:xfrm>
          <a:prstGeom prst="line">
            <a:avLst/>
          </a:prstGeom>
          <a:ln w="2540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912967" y="3451860"/>
            <a:ext cx="365760" cy="0"/>
          </a:xfrm>
          <a:prstGeom prst="line">
            <a:avLst/>
          </a:prstGeom>
          <a:ln w="2540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656167" y="3451860"/>
            <a:ext cx="365760" cy="0"/>
          </a:xfrm>
          <a:prstGeom prst="line">
            <a:avLst/>
          </a:prstGeom>
          <a:ln w="2540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0080" y="50749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5F6368"/>
                </a:solidFill>
                <a:latin typeface="Calibri"/>
              </a:rPr>
              <a:t>Якщо тендер нерелевантний — процес зупиняється відразу, без зайвого навантаження на Slack. Кількість звернень до MCP-tools під час Оцінки обмежена (до 5 за тендер), щоб агент не міг зациклитися. Кожен крок трасується окремо, тож увесь шлях одного тендера видно як один зв'язний запис.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F6368"/>
                </a:solidFill>
                <a:latin typeface="Calibri"/>
              </a:rPr>
              <a:t>Tender Watch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F636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F6FED"/>
                </a:solidFill>
                <a:latin typeface="Calibri"/>
              </a:rPr>
              <a:t>РЕЗУЛЬТАТ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Що бачить людина у Slack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1005840" cy="3810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60350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203200" rIns="203200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  <a:latin typeface="Calibri"/>
              </a:rPr>
              <a:t>🏗️ Новий тендер: Капітальний ремонт дороги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5F6368"/>
                </a:solidFill>
                <a:latin typeface="Calibri"/>
              </a:rPr>
              <a:t>ID Тендеру: UA-2026-01-15-000123-a  (посилання на Prozorro)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5F6368"/>
                </a:solidFill>
                <a:latin typeface="Calibri"/>
              </a:rPr>
              <a:t>Вартість: 2 450 000 грн       Дедлайн: 12.03.2026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5F6368"/>
                </a:solidFill>
                <a:latin typeface="Calibri"/>
              </a:rPr>
              <a:t>Місцезнаходження: Львівська область</a:t>
            </a:r>
          </a:p>
          <a:p>
            <a:pPr>
              <a:spcAft>
                <a:spcPts val="400"/>
              </a:spcAft>
            </a:pPr>
            <a:r>
              <a:rPr sz="600" b="0">
                <a:solidFill>
                  <a:srgbClr val="5F6368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B2A4A"/>
                </a:solidFill>
                <a:latin typeface="Calibri"/>
              </a:rPr>
              <a:t>Опис: Ремонт дорожнього покриття протяжністю 4,2 км...</a:t>
            </a:r>
          </a:p>
          <a:p>
            <a:pPr>
              <a:spcAft>
                <a:spcPts val="400"/>
              </a:spcAft>
            </a:pPr>
            <a:r>
              <a:rPr sz="600" b="0">
                <a:solidFill>
                  <a:srgbClr val="5F6368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E8E3E"/>
                </a:solidFill>
                <a:latin typeface="Calibri"/>
              </a:rPr>
              <a:t>✅ Рекомендація: Рекомендується подати заявку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5F6368"/>
                </a:solidFill>
                <a:latin typeface="Calibri"/>
              </a:rPr>
              <a:t>Компанія відповідає всім кваліфікаційним вимогам, є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5F6368"/>
                </a:solidFill>
                <a:latin typeface="Calibri"/>
              </a:rPr>
              <a:t>релевантний досвід у дорожньому будівництві.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5F6368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F6FED"/>
                </a:solidFill>
                <a:latin typeface="Calibri"/>
              </a:rPr>
              <a:t>[ ✅ Подати заявку ]      [ ❌ Відмовитися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737360"/>
            <a:ext cx="4480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400">
                <a:solidFill>
                  <a:srgbClr val="1B2A4A"/>
                </a:solidFill>
                <a:latin typeface="Calibri"/>
              </a:rPr>
              <a:t>•  Коротке резюме тендера генерує LLM українською мовою — без сирого JSON чи технічних деталей.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400">
                <a:solidFill>
                  <a:srgbClr val="1B2A4A"/>
                </a:solidFill>
                <a:latin typeface="Calibri"/>
              </a:rPr>
              <a:t>•  ID тендера — клікабельне посилання на реальну сторінку Prozorro.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400">
                <a:solidFill>
                  <a:srgbClr val="1B2A4A"/>
                </a:solidFill>
                <a:latin typeface="Calibri"/>
              </a:rPr>
              <a:t>•  Рекомендація формується кодом на основі вердикту перевірки, а не залишається "на розсуд" моделі.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400">
                <a:solidFill>
                  <a:srgbClr val="1B2A4A"/>
                </a:solidFill>
                <a:latin typeface="Calibri"/>
              </a:rPr>
              <a:t>•  Дві кнопки прямо в повідомленні: людина вирішує за секунди, без переходу в інший інтерфейс.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400">
                <a:solidFill>
                  <a:srgbClr val="1B2A4A"/>
                </a:solidFill>
                <a:latin typeface="Calibri"/>
              </a:rPr>
              <a:t>•  Після натискання повідомлення оновлюється — кнопки зникають, з'являється підтвердження рішення.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F6368"/>
                </a:solidFill>
                <a:latin typeface="Calibri"/>
              </a:rPr>
              <a:t>Tender Watch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F636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F6FED"/>
                </a:solidFill>
                <a:latin typeface="Calibri"/>
              </a:rPr>
              <a:t>ДЕМОНСТРАЦІЯ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Що буде показано наживо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920240"/>
            <a:ext cx="502920" cy="502920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189280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Запуск обробки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1892808"/>
            <a:ext cx="7040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6F2"/>
                </a:solidFill>
                <a:latin typeface="Calibri"/>
              </a:rPr>
              <a:t>Виклик POST /run-now — система звертається до Prozorro за реальними активними тендерами.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761488"/>
            <a:ext cx="502920" cy="502920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734056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Агентна оцінка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734056"/>
            <a:ext cx="7040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6F2"/>
                </a:solidFill>
                <a:latin typeface="Calibri"/>
              </a:rPr>
              <a:t>Claude сам вирішує, чи звертатися по MCP-tools — реальні виклики видно у трасуванні (Aspire Dashboard).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602736"/>
            <a:ext cx="502920" cy="502920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575304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Повідомлення у Slack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575304"/>
            <a:ext cx="7040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6F2"/>
                </a:solidFill>
                <a:latin typeface="Calibri"/>
              </a:rPr>
              <a:t>Реальне повідомлення з резюме тендера й кнопками з'являється в каналі команди.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443984"/>
            <a:ext cx="502920" cy="502920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441655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Рішення людини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4416552"/>
            <a:ext cx="7040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6F2"/>
                </a:solidFill>
                <a:latin typeface="Calibri"/>
              </a:rPr>
              <a:t>Натискання кнопки одразу показує "⏳ обробка", потім — результат, і записує рішення в систему.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5285232"/>
            <a:ext cx="502920" cy="502920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5257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Повторний запуск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5257800"/>
            <a:ext cx="7040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6F2"/>
                </a:solidFill>
                <a:latin typeface="Calibri"/>
              </a:rPr>
              <a:t>Другий виклик того самого тендера не обробляється повторно — доказ, що "пам'ять" працює.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